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321" r:id="rId6"/>
    <p:sldId id="260" r:id="rId7"/>
    <p:sldId id="261" r:id="rId8"/>
    <p:sldId id="322" r:id="rId9"/>
    <p:sldId id="262" r:id="rId10"/>
    <p:sldId id="263" r:id="rId11"/>
    <p:sldId id="265" r:id="rId12"/>
    <p:sldId id="266" r:id="rId13"/>
    <p:sldId id="320" r:id="rId14"/>
    <p:sldId id="267" r:id="rId15"/>
    <p:sldId id="270" r:id="rId16"/>
    <p:sldId id="271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1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10" autoAdjust="0"/>
  </p:normalViewPr>
  <p:slideViewPr>
    <p:cSldViewPr snapToGrid="0">
      <p:cViewPr varScale="1">
        <p:scale>
          <a:sx n="92" d="100"/>
          <a:sy n="92" d="100"/>
        </p:scale>
        <p:origin x="12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9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--Query Starred Board by User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b.Id,b.BoardName,b.BackgroundUrl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UserStarredBoards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usb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Boards b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usb.BoardId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usb.UserId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=1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CreatedAt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</a:t>
            </a: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--Query 4 recently accessed Boards by user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TOP 4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BoardId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b.BoardName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b.BackgroundUrl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Boards b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UserViewHistories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uvh.OwnerId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Categories c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uvh.CategoryId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c.CategoryName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='Board'</a:t>
            </a:r>
          </a:p>
          <a:p>
            <a:r>
              <a:rPr lang="fi-FI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Users u ON u.Id = uvh.UserId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1 --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uvh.AccessedAt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DESC;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--Query all Workspaces where User is a Member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w.WorkspaceName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Workspaces w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Members m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m.OwnerId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Categories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m.CategoryId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ot.Id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ot.CategoryName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'WORKSPACE'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m.UserId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1;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Member. For each workspace, get all Boards where User is also a Member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WorkspaceId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w.WorkspaceName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w.LogoUrl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WorkspaceIcon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BoardId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b.BoardName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BoardName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b.BoardDescription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b.BackgroundUrl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b.CreatedAt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Workspaces w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-- Find Workspaces where User is a Member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Members mw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mw.OwnerId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Categories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otw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otw.Id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mw.CategoryId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otw.CategoryName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'WORKSPACE'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-- Find Boards corresponding to Workspace where User is also a Member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Boards b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b.WorkspaceId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w.Id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Members mb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mb.OwnerId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b.Id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JOIN Categories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otb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otb.Id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mb.CategoryId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otb.CategoryName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'BOARD'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mb.UserId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1</a:t>
            </a:r>
          </a:p>
          <a:p>
            <a:pPr rtl="0"/>
            <a:endParaRPr lang="en-US" b="0" dirty="0">
              <a:effectLst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--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top 7 template categories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TOP 7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c.Id,c.CategoryName,c.Icon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Categories c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CategoryTypes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ct.Id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c.CategoryTypeId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ct.Id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=6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--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New and notable templates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TemplateId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t.Title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t.BackgroundUrl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t.CreatedAt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t.CreatedBy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t.Copied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t.Viewed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t.TemplateDescription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Templates t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t.CreatedAt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DESC,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t.Viewed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DESC, 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t.Copied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DESC;</a:t>
            </a:r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7786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9.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 data into Workspaces</a:t>
            </a:r>
            <a:endParaRPr dirty="0"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10.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Workspace Name,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='visibility'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related to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</a:t>
            </a:r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4 suggested Boards by Template Category Type with status as Template</a:t>
            </a:r>
            <a:endParaRPr lang="vi-VN" b="0" dirty="0">
              <a:effectLst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"Your boards" section: Get Boards belonging to Workspace where User is also a Member of the Board</a:t>
            </a:r>
            <a:endParaRPr lang="vi-VN" b="0" dirty="0">
              <a:effectLst/>
            </a:endParaRPr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Members in Workspace, number of Boards in Workspace that Member participates in and corresponding permissions in Workspace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 and status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Status of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Query Members of Boards belonging to Workspace, but Members who are not part of the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41406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11d298ec9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11d298ec9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Add Member to Board with Permission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18. Create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 with Permission (Each Board has only 1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 Update Status and Permission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20. Get all Members of Board and their Permissions</a:t>
            </a:r>
            <a:endParaRPr dirty="0"/>
          </a:p>
        </p:txBody>
      </p:sp>
      <p:sp>
        <p:nvSpPr>
          <p:cNvPr id="333" name="Google Shape;333;g3711d298ec9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Workspace</a:t>
            </a:r>
            <a:endParaRPr dirty="0"/>
          </a:p>
        </p:txBody>
      </p:sp>
      <p:sp>
        <p:nvSpPr>
          <p:cNvPr id="388" name="Google Shape;388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='permission.*'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corresponding to Board</a:t>
            </a:r>
          </a:p>
        </p:txBody>
      </p:sp>
      <p:sp>
        <p:nvSpPr>
          <p:cNvPr id="423" name="Google Shape;423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how many Boards in Workspace have Power-Ups added</a:t>
            </a:r>
            <a:endParaRPr dirty="0"/>
          </a:p>
        </p:txBody>
      </p:sp>
      <p:sp>
        <p:nvSpPr>
          <p:cNvPr id="446" name="Google Shape;446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Power-Up details</a:t>
            </a:r>
            <a:endParaRPr/>
          </a:p>
        </p:txBody>
      </p:sp>
      <p:sp>
        <p:nvSpPr>
          <p:cNvPr id="457" name="Google Shape;457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28. Get Billing Plan</a:t>
            </a:r>
            <a:endParaRPr dirty="0"/>
          </a:p>
        </p:txBody>
      </p:sp>
      <p:sp>
        <p:nvSpPr>
          <p:cNvPr id="484" name="Google Shape;484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29. Get Subscription of specific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PaymentInformation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BillingContact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Information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5" name="Google Shape;495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32. Change Additional invoice details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33. Query Billing history from Subscription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8" name="Google Shape;518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34. Create Export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35. Query Export from specific Workspace</a:t>
            </a:r>
            <a:endParaRPr dirty="0"/>
          </a:p>
        </p:txBody>
      </p:sp>
      <p:sp>
        <p:nvSpPr>
          <p:cNvPr id="551" name="Google Shape;551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36. Query Username and Bio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37. Update Username and Bio</a:t>
            </a:r>
            <a:endParaRPr dirty="0"/>
          </a:p>
        </p:txBody>
      </p:sp>
      <p:sp>
        <p:nvSpPr>
          <p:cNvPr id="562" name="Google Shape;562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38. Create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39. Create Stage in Board</a:t>
            </a:r>
            <a:endParaRPr dirty="0"/>
          </a:p>
        </p:txBody>
      </p:sp>
      <p:sp>
        <p:nvSpPr>
          <p:cNvPr id="575" name="Google Shape;575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40. Update Stage Position</a:t>
            </a:r>
            <a:endParaRPr dirty="0"/>
          </a:p>
        </p:txBody>
      </p:sp>
      <p:sp>
        <p:nvSpPr>
          <p:cNvPr id="592" name="Google Shape;592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41. Query all card in Stage</a:t>
            </a:r>
            <a:endParaRPr dirty="0"/>
          </a:p>
        </p:txBody>
      </p:sp>
      <p:sp>
        <p:nvSpPr>
          <p:cNvPr id="603" name="Google Shape;603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42. Query Card Detail</a:t>
            </a:r>
            <a:endParaRPr dirty="0"/>
          </a:p>
        </p:txBody>
      </p:sp>
      <p:sp>
        <p:nvSpPr>
          <p:cNvPr id="621" name="Google Shape;621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43. Query Comment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44. Query Activities related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45. Get Moved Card Data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46. Query current position of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47. Move card to a different list</a:t>
            </a:r>
            <a:endParaRPr dirty="0"/>
          </a:p>
        </p:txBody>
      </p:sp>
      <p:sp>
        <p:nvSpPr>
          <p:cNvPr id="644" name="Google Shape;644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48. Update Card Cover (Color,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Unsplash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Attachment)</a:t>
            </a:r>
            <a:endParaRPr dirty="0"/>
          </a:p>
        </p:txBody>
      </p:sp>
      <p:sp>
        <p:nvSpPr>
          <p:cNvPr id="658" name="Google Shape;658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49.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Label and check Label added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50. Get all Color</a:t>
            </a:r>
            <a:endParaRPr dirty="0"/>
          </a:p>
        </p:txBody>
      </p:sp>
      <p:sp>
        <p:nvSpPr>
          <p:cNvPr id="678" name="Google Shape;678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Card</a:t>
            </a:r>
            <a:endParaRPr dirty="0"/>
          </a:p>
        </p:txBody>
      </p:sp>
      <p:sp>
        <p:nvSpPr>
          <p:cNvPr id="700" name="Google Shape;700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Get all Attachment of a specific Card</a:t>
            </a:r>
            <a:endParaRPr dirty="0"/>
          </a:p>
        </p:txBody>
      </p:sp>
      <p:sp>
        <p:nvSpPr>
          <p:cNvPr id="727" name="Google Shape;727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53.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Board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54. Query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Card.</a:t>
            </a:r>
            <a:endParaRPr dirty="0"/>
          </a:p>
        </p:txBody>
      </p:sp>
      <p:sp>
        <p:nvSpPr>
          <p:cNvPr id="776" name="Google Shape;776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55. Query all Stickers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56. Add Sticker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57. Query Sticker of all Card in specific Board</a:t>
            </a:r>
            <a:endParaRPr dirty="0"/>
          </a:p>
        </p:txBody>
      </p:sp>
      <p:sp>
        <p:nvSpPr>
          <p:cNvPr id="809" name="Google Shape;809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58.1.Get “Your Items”: 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where User is assigned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58. Get user's recent activities across all accessible boards/workspaces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59. Get recently viewed Board which user is a member</a:t>
            </a:r>
            <a:endParaRPr dirty="0"/>
          </a:p>
        </p:txBody>
      </p:sp>
      <p:sp>
        <p:nvSpPr>
          <p:cNvPr id="834" name="Google Shape;834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60. Get all notification of specific User</a:t>
            </a:r>
            <a:endParaRPr dirty="0"/>
          </a:p>
        </p:txBody>
      </p:sp>
      <p:sp>
        <p:nvSpPr>
          <p:cNvPr id="849" name="Google Shape;849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62. Add Board to Collection</a:t>
            </a:r>
            <a:endParaRPr dirty="0"/>
          </a:p>
        </p:txBody>
      </p:sp>
      <p:sp>
        <p:nvSpPr>
          <p:cNvPr id="869" name="Google Shape;869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66.jp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79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66.jp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 dirty="0"/>
              <a:t>Key Functionalities of Trello</a:t>
            </a:r>
            <a:endParaRPr dirty="0"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Create and manage Workspace and Board 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Manage Template and Template Category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Manage Member Workspace, Boards, Cards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Manage Setting of Workspaces, Boards, User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Manage Board Custom Field and Custom Field Item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Comment and Activity for Card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Card Label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 panose="020B0604020202020204" pitchFamily="34" charset="0"/>
              <a:buChar char="•"/>
            </a:pPr>
            <a:r>
              <a:rPr lang="en-US" dirty="0"/>
              <a:t>Card Sticker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None/>
            </a:pPr>
            <a:endParaRPr dirty="0"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 dirty="0"/>
              <a:t>KEY FUNCTION</a:t>
            </a:r>
            <a:endParaRPr dirty="0"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348872" y="11820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BOARDS TAB SCREEN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F6772A-1DAA-4BFB-B3C0-2D1581B0F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872" y="1288936"/>
            <a:ext cx="10603563" cy="4994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AB5D90-2021-4B99-A864-938751A43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BOARDS TAB SCREEN RELATIONSHIP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228406-47BF-407D-A817-8A3076785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411890"/>
            <a:ext cx="10457674" cy="4608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02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TEMPLATES TAB SCREEN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F6A47F-4570-4014-96FF-E4D69A070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144" cy="52320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265744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TEMPLATES TAB SCREEN REALTIONSHIP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293A4B-ED83-429B-9444-3B2794958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27" y="1809523"/>
            <a:ext cx="10406936" cy="17961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265744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TEMPLATES TAB SCREEN SAMPLE DATA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3B0541-F181-4FC1-BED7-6309D7FF9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44" y="1601360"/>
            <a:ext cx="10733108" cy="228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584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10" name="Google Shape;31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11" name="Google Shape;31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665500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19" name="Google Shape;319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0" name="Google Shape;320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22" name="Google Shape;322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0074" y="137587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24" name="Google Shape;324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5" name="Google Shape;325;g370f527ffbd_1_12"/>
          <p:cNvCxnSpPr>
            <a:endCxn id="323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7" name="Google Shape;327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29" name="Google Shape;329;g370f527ffbd_1_12"/>
          <p:cNvCxnSpPr>
            <a:endCxn id="328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1026" name="Picture 2" descr="https://lh7-rt.googleusercontent.com/slidesz/AGV_vUdyvCMqoaHIv-P_ZjeyNGv6eUeQyaIYblXqFBgpH_c9-96epzHn3p8OfTK6aYiPy-xnfqaXkCGDMhh2fw7JOn16zfZcd3aqBXHDyDCjBCOlpb6KG9HzK2_169jAcsXR5j1z-cqyBx3DQ-tom2h7vg=s2048?key=AOcUDucPNNEPgcnOTKM4TQ">
            <a:extLst>
              <a:ext uri="{FF2B5EF4-FFF2-40B4-BE49-F238E27FC236}">
                <a16:creationId xmlns:a16="http://schemas.microsoft.com/office/drawing/2014/main" id="{69A02EF4-42E8-42B4-9F30-F00297961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1098000"/>
            <a:ext cx="11487150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rt.googleusercontent.com/slidesz/AGV_vUesB3SVFF4ib2C3vBtI5Oa9RYduT-uzmHRmzK9x4zRTxL25_TO2TA48bfPxylqsRWouDBMfTuMLCZTpMWD2OaRfb2cLL426ediCNeP8-6zjTHhL5u4mxFrYD7Bgg0BEIu0YYqRJOf-ZVYNyQ2TXBA=s2048?key=AOcUDucPNNEPgcnOTKM4TQ">
            <a:extLst>
              <a:ext uri="{FF2B5EF4-FFF2-40B4-BE49-F238E27FC236}">
                <a16:creationId xmlns:a16="http://schemas.microsoft.com/office/drawing/2014/main" id="{7FA74A36-397D-442D-9F75-811F4FD06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915527"/>
            <a:ext cx="11256861" cy="2517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211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g3711d298ec9_0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1" y="900199"/>
            <a:ext cx="10146875" cy="5931488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g3711d298ec9_0_1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37" name="Google Shape;337;g3711d298ec9_0_119"/>
          <p:cNvSpPr txBox="1"/>
          <p:nvPr/>
        </p:nvSpPr>
        <p:spPr>
          <a:xfrm>
            <a:off x="5914800" y="377980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11d298ec9_0_119"/>
          <p:cNvCxnSpPr/>
          <p:nvPr/>
        </p:nvCxnSpPr>
        <p:spPr>
          <a:xfrm rot="10800000" flipH="1">
            <a:off x="4762500" y="4233475"/>
            <a:ext cx="1152300" cy="623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11d298ec9_0_119"/>
          <p:cNvSpPr/>
          <p:nvPr/>
        </p:nvSpPr>
        <p:spPr>
          <a:xfrm>
            <a:off x="1011300" y="4824775"/>
            <a:ext cx="3798000" cy="655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0" name="Google Shape;340;g3711d298ec9_0_119"/>
          <p:cNvSpPr/>
          <p:nvPr/>
        </p:nvSpPr>
        <p:spPr>
          <a:xfrm>
            <a:off x="8529050" y="4931375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1" name="Google Shape;341;g3711d298ec9_0_119"/>
          <p:cNvSpPr txBox="1"/>
          <p:nvPr/>
        </p:nvSpPr>
        <p:spPr>
          <a:xfrm>
            <a:off x="7499700" y="43141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2" name="Google Shape;342;g3711d298ec9_0_119"/>
          <p:cNvCxnSpPr>
            <a:endCxn id="340" idx="0"/>
          </p:cNvCxnSpPr>
          <p:nvPr/>
        </p:nvCxnSpPr>
        <p:spPr>
          <a:xfrm>
            <a:off x="8705600" y="4712675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g3711d298ec9_0_119"/>
          <p:cNvSpPr txBox="1"/>
          <p:nvPr/>
        </p:nvSpPr>
        <p:spPr>
          <a:xfrm>
            <a:off x="6972350" y="26434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4" name="Google Shape;344;g3711d298ec9_0_119"/>
          <p:cNvCxnSpPr>
            <a:stCxn id="343" idx="1"/>
          </p:cNvCxnSpPr>
          <p:nvPr/>
        </p:nvCxnSpPr>
        <p:spPr>
          <a:xfrm flipH="1">
            <a:off x="6338150" y="2874325"/>
            <a:ext cx="634200" cy="28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5" name="Google Shape;345;g3711d298ec9_0_119"/>
          <p:cNvSpPr/>
          <p:nvPr/>
        </p:nvSpPr>
        <p:spPr>
          <a:xfrm>
            <a:off x="950150" y="3145575"/>
            <a:ext cx="5352900" cy="6231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84" name="Google Shape;384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811" y="1223049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392" name="Google Shape;392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93" name="Google Shape;393;g370f527ffbd_1_42"/>
          <p:cNvCxnSpPr>
            <a:endCxn id="392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" name="Google Shape;394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95" name="Google Shape;395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96" name="Google Shape;396;g370f527ffbd_1_42"/>
          <p:cNvCxnSpPr>
            <a:stCxn id="395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398" name="Google Shape;398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00" name="Google Shape;400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1" name="Google Shape;401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2" name="Google Shape;402;g370f527ffbd_1_42"/>
          <p:cNvCxnSpPr>
            <a:endCxn id="400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g370f527ffbd_1_42"/>
          <p:cNvCxnSpPr>
            <a:endCxn id="401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27" name="Google Shape;427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8" name="Google Shape;428;g3711d298ec9_1_52"/>
          <p:cNvCxnSpPr>
            <a:stCxn id="429" idx="1"/>
            <a:endCxn id="427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0" name="Google Shape;430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31" name="Google Shape;431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2" name="Google Shape;432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3" name="Google Shape;433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9" name="Google Shape;429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34" name="Google Shape;434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Google Shape;435;g3711d298ec9_1_52"/>
          <p:cNvCxnSpPr>
            <a:endCxn id="430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7" y="1235621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49" name="Google Shape;449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50" name="Google Shape;450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52" name="Google Shape;452;g3711d298ec9_1_0"/>
          <p:cNvCxnSpPr>
            <a:stCxn id="453" idx="3"/>
            <a:endCxn id="451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1" name="Google Shape;461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2" name="Google Shape;462;g3711d298ec9_0_60"/>
          <p:cNvCxnSpPr>
            <a:stCxn id="463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3" name="Google Shape;463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5" name="Google Shape;465;g3711d298ec9_0_60"/>
          <p:cNvCxnSpPr>
            <a:stCxn id="464" idx="3"/>
            <a:endCxn id="461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6" name="Google Shape;466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7" name="Google Shape;467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68" name="Google Shape;468;g3711d298ec9_0_60"/>
          <p:cNvCxnSpPr>
            <a:endCxn id="466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70" name="Google Shape;470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1" name="Google Shape;471;g3711d298ec9_0_60"/>
          <p:cNvCxnSpPr>
            <a:stCxn id="469" idx="0"/>
            <a:endCxn id="470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2" name="Google Shape;472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79" name="Google Shape;479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80" name="Google Shape;480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625" y="13879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89" name="Google Shape;489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90" name="Google Shape;490;g370f527ffbd_1_54"/>
          <p:cNvCxnSpPr>
            <a:endCxn id="489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0" name="Google Shape;500;g3711d298ec9_0_43"/>
          <p:cNvCxnSpPr>
            <a:endCxn id="499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1" name="Google Shape;501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2" name="Google Shape;502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3" name="Google Shape;503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04" name="Google Shape;504;g3711d298ec9_0_43"/>
          <p:cNvCxnSpPr>
            <a:stCxn id="503" idx="3"/>
            <a:endCxn id="502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1" name="Google Shape;521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3" name="Google Shape;523;g37121c272f6_0_0"/>
          <p:cNvCxnSpPr>
            <a:endCxn id="522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4" name="Google Shape;524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5" name="Google Shape;525;g37121c272f6_0_0"/>
          <p:cNvCxnSpPr>
            <a:endCxn id="526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6" name="Google Shape;526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7" name="Google Shape;527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8" name="Google Shape;528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9" name="Google Shape;529;g37121c272f6_0_0"/>
          <p:cNvCxnSpPr>
            <a:stCxn id="528" idx="3"/>
            <a:endCxn id="527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47" name="Google Shape;547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555" name="Google Shape;555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57" name="Google Shape;557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8" name="Google Shape;558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66" name="Google Shape;566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7" name="Google Shape;567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8" name="Google Shape;568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69" name="Google Shape;569;g3711d298ec9_0_0"/>
          <p:cNvCxnSpPr>
            <a:stCxn id="566" idx="1"/>
            <a:endCxn id="568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71" name="Google Shape;571;g3711d298ec9_0_0"/>
          <p:cNvCxnSpPr>
            <a:stCxn id="567" idx="0"/>
            <a:endCxn id="570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78" name="Google Shape;578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79" name="Google Shape;579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2" name="Google Shape;582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3" name="Google Shape;583;g36f5cd5a2ba_0_30"/>
          <p:cNvCxnSpPr>
            <a:endCxn id="581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5" name="Google Shape;585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7" name="Google Shape;587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8" name="Google Shape;588;g36f5cd5a2ba_0_30"/>
          <p:cNvCxnSpPr>
            <a:endCxn id="586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595" name="Google Shape;595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6" name="Google Shape;596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10" name="Google Shape;610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1" name="Google Shape;611;g36f5cd5a2ba_2_13"/>
          <p:cNvCxnSpPr>
            <a:stCxn id="609" idx="1"/>
            <a:endCxn id="610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3" name="Google Shape;613;g36f5cd5a2ba_2_13"/>
          <p:cNvCxnSpPr>
            <a:stCxn id="609" idx="1"/>
            <a:endCxn id="612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4" name="Google Shape;614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5" name="Google Shape;615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6" name="Google Shape;616;g36f5cd5a2ba_2_13"/>
          <p:cNvCxnSpPr>
            <a:stCxn id="608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7" name="Google Shape;617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pic>
        <p:nvPicPr>
          <p:cNvPr id="625" name="Google Shape;625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7" name="Google Shape;627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28" name="Google Shape;628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9" name="Google Shape;629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0" name="Google Shape;630;g36f5cd5a2ba_2_21"/>
          <p:cNvCxnSpPr>
            <a:endCxn id="631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2" name="Google Shape;632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3" name="Google Shape;633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4" name="Google Shape;634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5" name="Google Shape;635;g36f5cd5a2ba_2_21"/>
          <p:cNvCxnSpPr>
            <a:endCxn id="632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g36f5cd5a2ba_2_21"/>
          <p:cNvCxnSpPr>
            <a:endCxn id="633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38" name="Google Shape;638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9" name="Google Shape;639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0" name="Google Shape;640;g36f5cd5a2ba_2_21"/>
          <p:cNvCxnSpPr>
            <a:stCxn id="639" idx="3"/>
            <a:endCxn id="638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47" name="Google Shape;647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48" name="Google Shape;648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1" name="Google Shape;651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2" name="Google Shape;652;g370f527ffbd_3_63"/>
          <p:cNvCxnSpPr>
            <a:endCxn id="651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4" name="Google Shape;654;g370f527ffbd_3_63"/>
          <p:cNvCxnSpPr>
            <a:stCxn id="653" idx="3"/>
            <a:endCxn id="649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61" name="Google Shape;661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62" name="Google Shape;662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4" name="Google Shape;664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77"/>
          <p:cNvCxnSpPr>
            <a:stCxn id="663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67" name="Google Shape;667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68" name="Google Shape;668;g370f527ffbd_3_77"/>
          <p:cNvCxnSpPr>
            <a:endCxn id="666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0" name="Google Shape;670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1" name="Google Shape;671;g370f527ffbd_3_77"/>
          <p:cNvCxnSpPr>
            <a:stCxn id="670" idx="3"/>
            <a:endCxn id="669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2" name="Google Shape;672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3" name="Google Shape;673;g370f527ffbd_3_77"/>
          <p:cNvCxnSpPr>
            <a:stCxn id="672" idx="3"/>
            <a:endCxn id="674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81" name="Google Shape;681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82" name="Google Shape;682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g36f5cd5a2ba_2_68"/>
          <p:cNvCxnSpPr>
            <a:endCxn id="685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6" name="Google Shape;686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87" name="Google Shape;687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88" name="Google Shape;688;g36f5cd5a2ba_2_68"/>
          <p:cNvCxnSpPr>
            <a:stCxn id="689" idx="1"/>
            <a:endCxn id="687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696" name="Google Shape;696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702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04" name="Google Shape;704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3869204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5" name="Google Shape;705;g36f5cd5a2ba_2_78"/>
          <p:cNvCxnSpPr>
            <a:stCxn id="706" idx="1"/>
            <a:endCxn id="707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8" name="Google Shape;708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6" name="Google Shape;706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7" name="Google Shape;707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09" name="Google Shape;709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10" name="Google Shape;710;g36f5cd5a2ba_2_78"/>
          <p:cNvCxnSpPr>
            <a:stCxn id="706" idx="1"/>
            <a:endCxn id="709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1" name="Google Shape;711;g36f5cd5a2ba_2_78"/>
          <p:cNvCxnSpPr>
            <a:stCxn id="708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2" name="Google Shape;712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13" name="Google Shape;713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14" name="Google Shape;714;g36f5cd5a2ba_2_78"/>
          <p:cNvCxnSpPr>
            <a:stCxn id="713" idx="1"/>
            <a:endCxn id="712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22" name="Google Shape;722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23" name="Google Shape;723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30" name="Google Shape;730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31" name="Google Shape;731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2" name="Google Shape;732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33" name="Google Shape;733;g36f5cd5a2ba_2_51"/>
          <p:cNvCxnSpPr>
            <a:endCxn id="734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4" name="Google Shape;734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35" name="Google Shape;735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36" name="Google Shape;736;g36f5cd5a2ba_2_51"/>
          <p:cNvCxnSpPr>
            <a:stCxn id="732" idx="1"/>
            <a:endCxn id="735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72" name="Google Shape;772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79" name="Google Shape;779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80" name="Google Shape;780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82" name="Google Shape;782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84" name="Google Shape;784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85" name="Google Shape;785;g36f5cd5a2ba_2_43"/>
          <p:cNvCxnSpPr>
            <a:endCxn id="786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7" name="Google Shape;787;g36f5cd5a2ba_2_43"/>
          <p:cNvCxnSpPr>
            <a:endCxn id="788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9" name="Google Shape;789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6" name="Google Shape;786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8" name="Google Shape;788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1" name="Google Shape;791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3" name="Google Shape;793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4" name="Google Shape;794;g36f5cd5a2ba_2_43"/>
          <p:cNvCxnSpPr>
            <a:endCxn id="793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5" name="Google Shape;795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6" name="Google Shape;796;g36f5cd5a2ba_2_43"/>
          <p:cNvCxnSpPr>
            <a:endCxn id="795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03" name="Google Shape;803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05" name="Google Shape;805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12" name="Google Shape;812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3" name="Google Shape;813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5" name="Google Shape;815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16" name="Google Shape;816;g3711d298ec9_0_170"/>
          <p:cNvCxnSpPr>
            <a:endCxn id="814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7" name="Google Shape;817;g3711d298ec9_0_170"/>
          <p:cNvCxnSpPr>
            <a:endCxn id="814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18" name="Google Shape;818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20" name="Google Shape;820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21" name="Google Shape;821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22" name="Google Shape;822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3" name="Google Shape;823;g3711d298ec9_0_170"/>
          <p:cNvCxnSpPr>
            <a:stCxn id="819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30" name="Google Shape;830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3857BB-21DF-4D71-97F1-693250957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701" y="1098000"/>
            <a:ext cx="710859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AB44F06-C695-4135-B9AF-076342DCEE46}"/>
              </a:ext>
            </a:extLst>
          </p:cNvPr>
          <p:cNvSpPr/>
          <p:nvPr/>
        </p:nvSpPr>
        <p:spPr>
          <a:xfrm>
            <a:off x="2837793" y="1497724"/>
            <a:ext cx="3657600" cy="630621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9C9DEF7-5E50-427E-B6BE-4093A66D590B}"/>
              </a:ext>
            </a:extLst>
          </p:cNvPr>
          <p:cNvCxnSpPr/>
          <p:nvPr/>
        </p:nvCxnSpPr>
        <p:spPr>
          <a:xfrm flipV="1">
            <a:off x="6495393" y="851338"/>
            <a:ext cx="2109702" cy="945931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B3A5DEC-D1EE-4943-8448-5444F5A005B6}"/>
              </a:ext>
            </a:extLst>
          </p:cNvPr>
          <p:cNvSpPr txBox="1"/>
          <p:nvPr/>
        </p:nvSpPr>
        <p:spPr>
          <a:xfrm>
            <a:off x="6844039" y="613035"/>
            <a:ext cx="5069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CheckListItem:MemberId,Username</a:t>
            </a:r>
            <a:r>
              <a:rPr lang="en-US" dirty="0">
                <a:solidFill>
                  <a:srgbClr val="C00000"/>
                </a:solidFill>
              </a:rPr>
              <a:t>, </a:t>
            </a:r>
            <a:r>
              <a:rPr lang="en-US" dirty="0" err="1">
                <a:solidFill>
                  <a:srgbClr val="C00000"/>
                </a:solidFill>
              </a:rPr>
              <a:t>CardName</a:t>
            </a:r>
            <a:r>
              <a:rPr lang="en-US" dirty="0">
                <a:solidFill>
                  <a:srgbClr val="C00000"/>
                </a:solidFill>
              </a:rPr>
              <a:t>, </a:t>
            </a:r>
            <a:r>
              <a:rPr lang="en-US" dirty="0" err="1">
                <a:solidFill>
                  <a:srgbClr val="C00000"/>
                </a:solidFill>
              </a:rPr>
              <a:t>BoardName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B78945-301E-40FE-A6F8-BA23F7BC830F}"/>
              </a:ext>
            </a:extLst>
          </p:cNvPr>
          <p:cNvSpPr/>
          <p:nvPr/>
        </p:nvSpPr>
        <p:spPr>
          <a:xfrm>
            <a:off x="2837793" y="2443655"/>
            <a:ext cx="3657600" cy="2743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88657A-4D9E-42E0-B52B-00018E611DA4}"/>
              </a:ext>
            </a:extLst>
          </p:cNvPr>
          <p:cNvCxnSpPr>
            <a:cxnSpLocks/>
          </p:cNvCxnSpPr>
          <p:nvPr/>
        </p:nvCxnSpPr>
        <p:spPr>
          <a:xfrm>
            <a:off x="6495393" y="3534142"/>
            <a:ext cx="1277007" cy="222585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76969E-02E5-44C1-A1E5-4BAA23989046}"/>
              </a:ext>
            </a:extLst>
          </p:cNvPr>
          <p:cNvSpPr txBox="1"/>
          <p:nvPr/>
        </p:nvSpPr>
        <p:spPr>
          <a:xfrm>
            <a:off x="6840085" y="5760000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Comment, </a:t>
            </a:r>
            <a:r>
              <a:rPr lang="en-US" dirty="0" err="1">
                <a:solidFill>
                  <a:srgbClr val="C00000"/>
                </a:solidFill>
              </a:rPr>
              <a:t>CommentReaction</a:t>
            </a:r>
            <a:endParaRPr lang="en-US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52" name="Google Shape;852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53" name="Google Shape;853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5" name="Google Shape;855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56" name="Google Shape;856;g36f5cd5a2ba_2_87"/>
          <p:cNvCxnSpPr>
            <a:stCxn id="855" idx="1"/>
            <a:endCxn id="854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63" name="Google Shape;863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65" name="Google Shape;865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72" name="Google Shape;872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74" name="Google Shape;874;g36f5cd5a2ba_2_115"/>
          <p:cNvCxnSpPr>
            <a:endCxn id="875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76" name="Google Shape;876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7" name="Google Shape;877;g36f5cd5a2ba_2_115"/>
          <p:cNvCxnSpPr>
            <a:endCxn id="876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8" name="Google Shape;878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9" name="Google Shape;879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0" name="Google Shape;880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1" name="Google Shape;881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2" name="Google Shape;882;g36f5cd5a2ba_2_115"/>
          <p:cNvCxnSpPr>
            <a:stCxn id="881" idx="1"/>
            <a:endCxn id="880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3" name="Google Shape;883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4" name="Google Shape;884;g36f5cd5a2ba_2_115"/>
          <p:cNvCxnSpPr>
            <a:stCxn id="881" idx="1"/>
            <a:endCxn id="883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91" name="Google Shape;891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893" name="Google Shape;893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1285</TotalTime>
  <Words>2030</Words>
  <Application>Microsoft Office PowerPoint</Application>
  <PresentationFormat>Widescreen</PresentationFormat>
  <Paragraphs>401</Paragraphs>
  <Slides>59</Slides>
  <Notes>58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bbv template EN</vt:lpstr>
      <vt:lpstr>PowerPoint Presentation</vt:lpstr>
      <vt:lpstr>Key Functionalities of Trello</vt:lpstr>
      <vt:lpstr>KEY FUNCTION</vt:lpstr>
      <vt:lpstr>BOARDS TAB SCREEN</vt:lpstr>
      <vt:lpstr>BOARDS TAB SCREEN RELATIONSHIP</vt:lpstr>
      <vt:lpstr>TEMPLATES TAB SCREEN</vt:lpstr>
      <vt:lpstr>TEMPLATES TAB SCREEN REALTIONSHIP</vt:lpstr>
      <vt:lpstr>TEMPLATES TAB SCREEN SAMPLE DATA</vt:lpstr>
      <vt:lpstr>CREATE WORKSPACE IN TRELLO SYSTEM</vt:lpstr>
      <vt:lpstr>WORKSPACE IN TRELLO SYSTEM</vt:lpstr>
      <vt:lpstr>USER, WORKSPACE, BOARD, TEMPLATE, TEMPLATECATEGORY, USERBOARD RELATIONSHIP</vt:lpstr>
      <vt:lpstr>WORKSPACE IN TRELLO SYSTEM</vt:lpstr>
      <vt:lpstr>WORKSPACE IN TRELLO SYSTEM</vt:lpstr>
      <vt:lpstr>WORKSPACE IN TRELLO SYSTEM</vt:lpstr>
      <vt:lpstr>SHARELINK, PERMISSION, MEMBER RELATIONSHIP</vt:lpstr>
      <vt:lpstr>WORKSPACE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57</cp:revision>
  <dcterms:created xsi:type="dcterms:W3CDTF">2025-07-10T03:51:23Z</dcterms:created>
  <dcterms:modified xsi:type="dcterms:W3CDTF">2025-08-05T17:10:45Z</dcterms:modified>
</cp:coreProperties>
</file>