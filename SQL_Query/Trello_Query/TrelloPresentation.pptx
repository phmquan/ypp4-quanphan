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28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9.xml" ContentType="application/vnd.openxmlformats-officedocument.presentationml.tags+xml"/>
  <Override PartName="/ppt/notesSlides/notesSlide4.xml" ContentType="application/vnd.openxmlformats-officedocument.presentationml.notesSlide+xml"/>
  <Override PartName="/ppt/tags/tag30.xml" ContentType="application/vnd.openxmlformats-officedocument.presentationml.tags+xml"/>
  <Override PartName="/ppt/notesSlides/notesSlide5.xml" ContentType="application/vnd.openxmlformats-officedocument.presentationml.notesSlide+xml"/>
  <Override PartName="/ppt/tags/tag31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tags/tag32.xml" ContentType="application/vnd.openxmlformats-officedocument.presentationml.tags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44"/>
  </p:notesMasterIdLst>
  <p:handoutMasterIdLst>
    <p:handoutMasterId r:id="rId45"/>
  </p:handoutMasterIdLst>
  <p:sldIdLst>
    <p:sldId id="321" r:id="rId4"/>
    <p:sldId id="290" r:id="rId5"/>
    <p:sldId id="331" r:id="rId6"/>
    <p:sldId id="294" r:id="rId7"/>
    <p:sldId id="281" r:id="rId8"/>
    <p:sldId id="2145705925" r:id="rId9"/>
    <p:sldId id="2145705951" r:id="rId10"/>
    <p:sldId id="2145705952" r:id="rId11"/>
    <p:sldId id="2145705972" r:id="rId12"/>
    <p:sldId id="2145705953" r:id="rId13"/>
    <p:sldId id="2145705968" r:id="rId14"/>
    <p:sldId id="2145705969" r:id="rId15"/>
    <p:sldId id="2145705973" r:id="rId16"/>
    <p:sldId id="2145705970" r:id="rId17"/>
    <p:sldId id="2145705954" r:id="rId18"/>
    <p:sldId id="2145705965" r:id="rId19"/>
    <p:sldId id="2145705974" r:id="rId20"/>
    <p:sldId id="2145705966" r:id="rId21"/>
    <p:sldId id="2145705975" r:id="rId22"/>
    <p:sldId id="2145705955" r:id="rId23"/>
    <p:sldId id="2145705976" r:id="rId24"/>
    <p:sldId id="2145705964" r:id="rId25"/>
    <p:sldId id="2145705977" r:id="rId26"/>
    <p:sldId id="2145705967" r:id="rId27"/>
    <p:sldId id="2145705978" r:id="rId28"/>
    <p:sldId id="2145705979" r:id="rId29"/>
    <p:sldId id="2145705980" r:id="rId30"/>
    <p:sldId id="2145705957" r:id="rId31"/>
    <p:sldId id="2145705981" r:id="rId32"/>
    <p:sldId id="2145705958" r:id="rId33"/>
    <p:sldId id="2145705982" r:id="rId34"/>
    <p:sldId id="2145705959" r:id="rId35"/>
    <p:sldId id="2145705983" r:id="rId36"/>
    <p:sldId id="2145705960" r:id="rId37"/>
    <p:sldId id="2145705984" r:id="rId38"/>
    <p:sldId id="2145705963" r:id="rId39"/>
    <p:sldId id="2145705985" r:id="rId40"/>
    <p:sldId id="2145705971" r:id="rId41"/>
    <p:sldId id="2145705986" r:id="rId42"/>
    <p:sldId id="315" r:id="rId43"/>
  </p:sldIdLst>
  <p:sldSz cx="12192000" cy="6858000"/>
  <p:notesSz cx="6858000" cy="9144000"/>
  <p:custDataLst>
    <p:tags r:id="rId4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72"/>
            <p14:sldId id="2145705953"/>
            <p14:sldId id="2145705968"/>
            <p14:sldId id="2145705969"/>
            <p14:sldId id="2145705973"/>
            <p14:sldId id="2145705970"/>
            <p14:sldId id="2145705954"/>
            <p14:sldId id="2145705965"/>
            <p14:sldId id="2145705974"/>
            <p14:sldId id="2145705966"/>
            <p14:sldId id="2145705975"/>
            <p14:sldId id="2145705955"/>
            <p14:sldId id="2145705976"/>
            <p14:sldId id="2145705964"/>
            <p14:sldId id="2145705977"/>
            <p14:sldId id="2145705967"/>
            <p14:sldId id="2145705978"/>
            <p14:sldId id="2145705979"/>
            <p14:sldId id="2145705980"/>
            <p14:sldId id="2145705957"/>
            <p14:sldId id="2145705981"/>
            <p14:sldId id="2145705958"/>
            <p14:sldId id="2145705982"/>
            <p14:sldId id="2145705959"/>
            <p14:sldId id="2145705983"/>
            <p14:sldId id="2145705960"/>
            <p14:sldId id="2145705984"/>
            <p14:sldId id="2145705963"/>
            <p14:sldId id="2145705985"/>
            <p14:sldId id="2145705971"/>
            <p14:sldId id="2145705986"/>
            <p14:sldId id="315"/>
          </p14:sldIdLst>
        </p14:section>
        <p14:section name="How-to guides" id="{940A1398-85E1-49ED-8D6E-5B86E8378269}">
          <p14:sldIdLst/>
        </p14:section>
        <p14:section name="Style guide" id="{469652BB-A032-4484-908B-5AD5FE899E09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 autoAdjust="0"/>
    <p:restoredTop sz="71901" autoAdjust="0"/>
  </p:normalViewPr>
  <p:slideViewPr>
    <p:cSldViewPr snapToGrid="0" snapToObjects="1" showGuides="1">
      <p:cViewPr varScale="1">
        <p:scale>
          <a:sx n="58" d="100"/>
          <a:sy n="58" d="100"/>
        </p:scale>
        <p:origin x="78" y="588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viewProps" Target="view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ags" Target="tags/tag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.e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11.08.2025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 Query Starred Board By User</a:t>
            </a:r>
          </a:p>
          <a:p>
            <a:r>
              <a:rPr lang="en-US" dirty="0"/>
              <a:t>select </a:t>
            </a:r>
          </a:p>
          <a:p>
            <a:r>
              <a:rPr lang="en-US" dirty="0"/>
              <a:t>  </a:t>
            </a:r>
            <a:r>
              <a:rPr lang="en-US" dirty="0" err="1"/>
              <a:t>b.Id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b.BoardName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b.BackgroundUrl</a:t>
            </a:r>
            <a:r>
              <a:rPr lang="en-US" dirty="0"/>
              <a:t> </a:t>
            </a:r>
          </a:p>
          <a:p>
            <a:r>
              <a:rPr lang="en-US" dirty="0"/>
              <a:t>from </a:t>
            </a:r>
          </a:p>
          <a:p>
            <a:r>
              <a:rPr lang="en-US" dirty="0"/>
              <a:t>  </a:t>
            </a:r>
            <a:r>
              <a:rPr lang="en-US" dirty="0" err="1"/>
              <a:t>UserStarredBoard</a:t>
            </a:r>
            <a:r>
              <a:rPr lang="en-US" dirty="0"/>
              <a:t> </a:t>
            </a:r>
            <a:r>
              <a:rPr lang="en-US" dirty="0" err="1"/>
              <a:t>usb</a:t>
            </a:r>
            <a:r>
              <a:rPr lang="en-US" dirty="0"/>
              <a:t> </a:t>
            </a:r>
          </a:p>
          <a:p>
            <a:r>
              <a:rPr lang="en-US" dirty="0"/>
              <a:t>  join Board b on </a:t>
            </a:r>
            <a:r>
              <a:rPr lang="en-US" dirty="0" err="1"/>
              <a:t>b.Id</a:t>
            </a:r>
            <a:r>
              <a:rPr lang="en-US" dirty="0"/>
              <a:t> = </a:t>
            </a:r>
            <a:r>
              <a:rPr lang="en-US" dirty="0" err="1"/>
              <a:t>usb.BoardId</a:t>
            </a:r>
            <a:r>
              <a:rPr lang="en-US" dirty="0"/>
              <a:t> </a:t>
            </a:r>
          </a:p>
          <a:p>
            <a:r>
              <a:rPr lang="en-US" dirty="0"/>
              <a:t>where </a:t>
            </a:r>
          </a:p>
          <a:p>
            <a:r>
              <a:rPr lang="en-US" dirty="0"/>
              <a:t>  </a:t>
            </a:r>
            <a:r>
              <a:rPr lang="en-US" dirty="0" err="1"/>
              <a:t>usb.UserId</a:t>
            </a:r>
            <a:r>
              <a:rPr lang="en-US" dirty="0"/>
              <a:t> = 1 </a:t>
            </a:r>
          </a:p>
          <a:p>
            <a:r>
              <a:rPr lang="en-US" dirty="0"/>
              <a:t>order by </a:t>
            </a:r>
          </a:p>
          <a:p>
            <a:r>
              <a:rPr lang="en-US" dirty="0"/>
              <a:t>  </a:t>
            </a:r>
            <a:r>
              <a:rPr lang="en-US" dirty="0" err="1"/>
              <a:t>usb.CreatedAt</a:t>
            </a:r>
            <a:r>
              <a:rPr lang="en-US" dirty="0"/>
              <a:t> desc</a:t>
            </a:r>
          </a:p>
          <a:p>
            <a:endParaRPr lang="en-US" dirty="0"/>
          </a:p>
          <a:p>
            <a:r>
              <a:rPr lang="en-US" dirty="0"/>
              <a:t>-- Query Recently viewed by user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TOP 4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b.BackgroundUrl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Board b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UserViewHistory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uvh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uvh.OwnerId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uvh.OwnerTypeId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='board'</a:t>
            </a:r>
          </a:p>
          <a:p>
            <a:r>
              <a:rPr lang="fi-FI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Users u ON u.Id = uvh.UserId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1 --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uvh.AccessedAt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DESC;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 Query all Workspace where User is a Member. For each workspace, get all Board where User is also a Member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w.WorkspaceName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w.LogoUrl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WorkspaceIcon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b.BoardDescription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b.BackgroundUrl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b.CreatedAt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Workspace w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Find Workspace where User is a Member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Members mw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mw.OwnerId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otw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mw.OwnerTypeId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otw.OwnerTypeValue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'workspace'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Find Board corresponding to Workspace where User is also a Member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Board b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b.WorkspaceId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Members mb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mb.OwnerId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otb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mb.OwnerTypeId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otb.OwnerTypeValue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'board'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mb.UserId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30734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--Get User Infor by Email</a:t>
            </a:r>
          </a:p>
          <a:p>
            <a:r>
              <a:rPr lang="en-US" dirty="0"/>
              <a:t>select </a:t>
            </a:r>
          </a:p>
          <a:p>
            <a:r>
              <a:rPr lang="en-US" dirty="0"/>
              <a:t>  </a:t>
            </a:r>
            <a:r>
              <a:rPr lang="en-US" dirty="0" err="1"/>
              <a:t>usr.FullName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usr.PictureUrl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usr.Email</a:t>
            </a:r>
            <a:r>
              <a:rPr lang="en-US" dirty="0"/>
              <a:t> </a:t>
            </a:r>
          </a:p>
          <a:p>
            <a:r>
              <a:rPr lang="en-US" dirty="0"/>
              <a:t>from </a:t>
            </a:r>
          </a:p>
          <a:p>
            <a:r>
              <a:rPr lang="en-US" dirty="0"/>
              <a:t>  Users </a:t>
            </a:r>
            <a:r>
              <a:rPr lang="en-US" dirty="0" err="1"/>
              <a:t>usr</a:t>
            </a:r>
            <a:r>
              <a:rPr lang="en-US" dirty="0"/>
              <a:t> </a:t>
            </a:r>
          </a:p>
          <a:p>
            <a:r>
              <a:rPr lang="en-US" dirty="0"/>
              <a:t>where </a:t>
            </a:r>
          </a:p>
          <a:p>
            <a:r>
              <a:rPr lang="en-US" dirty="0"/>
              <a:t>  </a:t>
            </a:r>
            <a:r>
              <a:rPr lang="en-US" dirty="0" err="1"/>
              <a:t>usr.Email</a:t>
            </a:r>
            <a:r>
              <a:rPr lang="en-US" dirty="0"/>
              <a:t> = 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--Update Username and Bio by Id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Users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Username = '',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Bio = ''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Email = ''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70894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-- 7. Get top 7 template categories</a:t>
            </a:r>
          </a:p>
          <a:p>
            <a:r>
              <a:rPr lang="en-US" dirty="0"/>
              <a:t>select </a:t>
            </a:r>
          </a:p>
          <a:p>
            <a:r>
              <a:rPr lang="en-US" dirty="0"/>
              <a:t>  Top 7 </a:t>
            </a:r>
            <a:r>
              <a:rPr lang="en-US" dirty="0" err="1"/>
              <a:t>tpc.Id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tpc.DisplayValue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tpc.IconUrl</a:t>
            </a:r>
            <a:r>
              <a:rPr lang="en-US" dirty="0"/>
              <a:t> </a:t>
            </a:r>
          </a:p>
          <a:p>
            <a:r>
              <a:rPr lang="en-US" dirty="0"/>
              <a:t>from </a:t>
            </a:r>
          </a:p>
          <a:p>
            <a:r>
              <a:rPr lang="en-US" dirty="0"/>
              <a:t>  </a:t>
            </a:r>
            <a:r>
              <a:rPr lang="en-US" dirty="0" err="1"/>
              <a:t>TemplateCategory</a:t>
            </a:r>
            <a:r>
              <a:rPr lang="en-US" dirty="0"/>
              <a:t> </a:t>
            </a:r>
            <a:r>
              <a:rPr lang="en-US" dirty="0" err="1"/>
              <a:t>tpc</a:t>
            </a:r>
            <a:endParaRPr lang="en-US" dirty="0"/>
          </a:p>
          <a:p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-- 8. Get New and notable templates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TemplateId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t.BackgroundUrl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t.CreatedBy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t.Copied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t.Viewed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t.TemplateDescription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Template 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ORDER BY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DESC,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t.Viewed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DESC,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t.Copied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DESC;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12619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365496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template details and the Board associated with that template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All Template Detail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TemplateId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t.Copied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t.Viewed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t.TemplateDescription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b.BoardStatus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Template 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Board b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t.BoardId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Users u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t.CreatedBy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 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templateId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--Get all Stage, Card belong to Board in Template (Store Procedure)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 OR ALTER PROCEDURE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GetBoardDetail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BoardTemplateId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--Get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BoardDetail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b.BackgroundUrl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b.BoardStatus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Board b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BoardTemplateId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--Get Stage in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StageTitle,s.Position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StagePosition,c.ColorName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BackgroundColor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Stage 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Color c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s.ColorId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BoardTemplateId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--Get Card in Stage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crd.StageId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crd.CoverValue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color.ColorName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a.AttachmentPath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crd.CardDescription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CARDS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Stage s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crd.StageId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CardCoverType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cct.Id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crd.CardCoverTypeId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Color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cct.TypeValue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'color'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TRY_CAST(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crd.CoverValue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INT)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Attachment a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cct.TypeValue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'attachment'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TRY_CAST(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crd.CoverValue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INT)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BoardTemplateId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GetBoardDetail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BoardTemplateId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=20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193548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Workspace Name,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=‘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workspacevisibility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related to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Workspace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WITH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SettingValueForWorkspace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sk.KeyName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so.DisplayValue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sv.SettingKeyId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so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sk.IsBoolean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=0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'workspace'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sk.KeyName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workspacevisibility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w.WorkspaceName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svfw.DisplayValue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Visibility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Workspace w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SettingValueForWorkspace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svfw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svfw.OwnerId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2;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/>
              <a:t>-- Get Starred Board of User from a specific Workspace</a:t>
            </a:r>
          </a:p>
          <a:p>
            <a:r>
              <a:rPr lang="en-US" dirty="0"/>
              <a:t>select </a:t>
            </a:r>
          </a:p>
          <a:p>
            <a:r>
              <a:rPr lang="en-US" dirty="0"/>
              <a:t>  </a:t>
            </a:r>
            <a:r>
              <a:rPr lang="en-US" dirty="0" err="1"/>
              <a:t>brd.Id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brd.BoardName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brd.BackgroundUrl</a:t>
            </a:r>
            <a:r>
              <a:rPr lang="en-US" dirty="0"/>
              <a:t> </a:t>
            </a:r>
          </a:p>
          <a:p>
            <a:r>
              <a:rPr lang="en-US" dirty="0"/>
              <a:t>from </a:t>
            </a:r>
          </a:p>
          <a:p>
            <a:r>
              <a:rPr lang="en-US" dirty="0"/>
              <a:t>  </a:t>
            </a:r>
            <a:r>
              <a:rPr lang="en-US" dirty="0" err="1"/>
              <a:t>UserStarredBoard</a:t>
            </a:r>
            <a:r>
              <a:rPr lang="en-US" dirty="0"/>
              <a:t> </a:t>
            </a:r>
            <a:r>
              <a:rPr lang="en-US" dirty="0" err="1"/>
              <a:t>usb</a:t>
            </a:r>
            <a:r>
              <a:rPr lang="en-US" dirty="0"/>
              <a:t> </a:t>
            </a:r>
          </a:p>
          <a:p>
            <a:r>
              <a:rPr lang="en-US" dirty="0"/>
              <a:t>  join Board </a:t>
            </a:r>
            <a:r>
              <a:rPr lang="en-US" dirty="0" err="1"/>
              <a:t>brd</a:t>
            </a:r>
            <a:r>
              <a:rPr lang="en-US" dirty="0"/>
              <a:t> on </a:t>
            </a:r>
            <a:r>
              <a:rPr lang="en-US" dirty="0" err="1"/>
              <a:t>brd.Id</a:t>
            </a:r>
            <a:r>
              <a:rPr lang="en-US" dirty="0"/>
              <a:t> = </a:t>
            </a:r>
            <a:r>
              <a:rPr lang="en-US" dirty="0" err="1"/>
              <a:t>usb.BoardId</a:t>
            </a:r>
            <a:r>
              <a:rPr lang="en-US" dirty="0"/>
              <a:t> </a:t>
            </a:r>
          </a:p>
          <a:p>
            <a:r>
              <a:rPr lang="en-US" dirty="0"/>
              <a:t>  and </a:t>
            </a:r>
            <a:r>
              <a:rPr lang="en-US" dirty="0" err="1"/>
              <a:t>usb.UserId</a:t>
            </a:r>
            <a:r>
              <a:rPr lang="en-US" dirty="0"/>
              <a:t> = 1 </a:t>
            </a:r>
          </a:p>
          <a:p>
            <a:r>
              <a:rPr lang="en-US" dirty="0"/>
              <a:t>  join Workspace </a:t>
            </a:r>
            <a:r>
              <a:rPr lang="en-US" dirty="0" err="1"/>
              <a:t>wrs</a:t>
            </a:r>
            <a:r>
              <a:rPr lang="en-US" dirty="0"/>
              <a:t> on </a:t>
            </a:r>
            <a:r>
              <a:rPr lang="en-US" dirty="0" err="1"/>
              <a:t>wrs.Id</a:t>
            </a:r>
            <a:r>
              <a:rPr lang="en-US" dirty="0"/>
              <a:t> = </a:t>
            </a:r>
            <a:r>
              <a:rPr lang="en-US" dirty="0" err="1"/>
              <a:t>brd.WorkspaceId</a:t>
            </a:r>
            <a:r>
              <a:rPr lang="en-US" dirty="0"/>
              <a:t> </a:t>
            </a:r>
          </a:p>
          <a:p>
            <a:r>
              <a:rPr lang="en-US" dirty="0"/>
              <a:t>  and </a:t>
            </a:r>
            <a:r>
              <a:rPr lang="en-US" dirty="0" err="1"/>
              <a:t>wrs.Id</a:t>
            </a:r>
            <a:r>
              <a:rPr lang="en-US" dirty="0"/>
              <a:t> = 1 </a:t>
            </a:r>
          </a:p>
          <a:p>
            <a:r>
              <a:rPr lang="en-US" dirty="0"/>
              <a:t>order by </a:t>
            </a:r>
          </a:p>
          <a:p>
            <a:r>
              <a:rPr lang="en-US" dirty="0"/>
              <a:t>  </a:t>
            </a:r>
            <a:r>
              <a:rPr lang="en-US" dirty="0" err="1"/>
              <a:t>usb.CreatedAt</a:t>
            </a:r>
            <a:r>
              <a:rPr lang="en-US" dirty="0"/>
              <a:t> desc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"Your boards" section: Get Board belonging to Workspace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where User is also a Member of the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b.BackgroundUrl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Board b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Members m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Workspace w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b.WorkspaceId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'board'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all Members in Workspace, number of Board in Workspace that Member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participates in and corresponding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RolePermissions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 Workspace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WITH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WorkspaceMembers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m.RolePermissonId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Members 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'workspace'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),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BoardInWorkspace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b.BackgroundUrl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Board b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b.WorkspaceId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2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),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BoardMembers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Members 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'board'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u.Email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UserEmail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u.LastActive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p.PermissionName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Permission,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COUNT(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bm.BoardId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NumBoardsJoined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STRING_AGG(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biw.BoardName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', ')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JoinedBoardNames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STRING_AGG(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biw.BackgroundUrl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', ')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JoinedBoardBackground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WorkspaceMembers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wm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BoardMembers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bm.UserId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wm.UserId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BoardInWorkspace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biw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bm.BoardId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biw.BoardId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i-FI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Users u ON wm.UserId = u.Id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RolePermission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wm.RolePermissonId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GROUP BY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u.Email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u.LastActive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p.PermissionName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workspace and status of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sl.ShareLinkToken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sl.ShareLinkStatus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p.PermissionName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Workspace w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sl.OwnerId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='workspace'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RolePermission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sl.RolePermissonId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719106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379863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corresponding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for Workspace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sk.KeyName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so.DisplayValue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skso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skso.SettingKeyId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so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skso.SettingOptionId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'workspace';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specific Workspace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sk.KeyName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so.DisplayValue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sv.SettingKeyId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so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sk.IsBoolean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=0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='workspace';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079309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869197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All Stage and Card relate to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 OR ALTER PROCEDURE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GetBoardStagesAndCards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SET NOCOUNT ON;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WITH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MemberAgg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STRING_AGG(CAST(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VARCHAR(20)), ', ')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AssignedMemberId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STRING_AGG(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', ') WITHIN GROUP (ORDER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AssignedMembers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FROM Members 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'CARD'</a:t>
            </a:r>
          </a:p>
          <a:p>
            <a:r>
              <a:rPr lang="fi-FI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JOIN Users u ON u.Id = m.UserId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),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AttachmentAgg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tch.CardId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COUNT(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tch.Id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AttachmentCount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FROM Attachment tch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tch.CardId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),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cmm.CardId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COUNT(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CommentCount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FROM Comment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cmm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cmm.CardId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),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STRING_AGG(CAST(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VARCHAR(20)), ', ') WITHIN GROUP (ORDER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STRING_AGG(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', ') 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LabelTitle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CardLabel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cl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JOIN Labels l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cl.LabelId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StageTitle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s.StageStatus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c.CardDescription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c.StartDate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c.DueDate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c.CardLocation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la.LabelId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la.LabelTitle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ma.AssignedMemberId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ma.AssignedMembers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aa.AttachmentCount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ca.CommentCount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Stage 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Cards c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c.StageId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MemberAgg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ma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la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AttachmentAgg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aa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ca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GetBoardStagesAndCards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374775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--Get all Members of Board and their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RolePermissions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p.PermissionName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Members 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Board b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RolePermission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m.RolePermissonId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i-FI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Users u ON u.Id = m.UserId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relate to Board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srl.ShareLinkStatus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ShareToken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srl.ShareLinkStatus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='board'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=1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srl.ShareLinkStatus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525665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216946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corresponding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for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sk.KeyName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so.DisplayValue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skso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skso.SettingKeyId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'board'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so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skso.SettingOptionId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corresponding to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sk.KeyName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sk.IsBoolean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so.DisplayValue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sv.SettingKeyId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'board'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so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sk.IsBoolean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=0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179773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5653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Card Detail and Related Information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 OR ALTER PROCEDURE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GetCardDetail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SET NOCOUNT ON;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vi-VN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-- 1. Card cơ bản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c.CardDescription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c.StartDate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c.DueDate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c.CardLocation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c.CreatedBy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c.UpdatedAt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c.UpdatedBy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Cards c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-- 2. Members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Members 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'CARD'</a:t>
            </a:r>
          </a:p>
          <a:p>
            <a:r>
              <a:rPr lang="fi-FI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Users u ON u.Id = m.UserId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-- 3. Labels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LabelTitle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CardLabel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cl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Labels l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cl.LabelId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-- 4. Attachments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AttachmentId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a.AttachmentName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a.AttachmentPath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a.CreatedBy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Attachment a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-- 5. Custom fields + values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fv.FieldValue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fv.CustomFieldId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-- 6. Comments + reactions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cm.CreatedBy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Comment cm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cmr.ReactionId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ReactionId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cmr.CreatedBy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COUNT(*)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ReactionCount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CommentReaction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Comment cm ON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cmr.CommentId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Reaction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cmr.ReactionId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cmr.ReactionId,cmr.CreatedBy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-- 7. Activities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ActivityId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act.ActivityDescription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usr.FullName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usr.PictureUrl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Activity act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act.OwnerTypeId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Users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act.UserId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GetCardDetail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741053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8824270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Label and Color of specific Card 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clr.ColorHex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Color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CardLabel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cl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Labels l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cl.LabelId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Color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clr.Id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l.ColorId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708028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72958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Attachment of specific Card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AttachmentId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atm.AttachmentName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atm.AttachmentPath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atm.CreatedBy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atm.Thumbnail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att.DisplayValue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Attachment atm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AttachmentType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atm.AttachmentTypeId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282352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986927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Query all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CheckListItem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CheckList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specific Card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cli.CheckListItemName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ItemName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cli.DueDate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DueDate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MemberId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Username,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cli.CheckListItemStatus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IsCompleteItem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cli.CheckListId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CheckListID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CheckListItem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cli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CheckList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cl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cli.CheckListId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Members m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cli.MemberId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Users u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m.UserId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5204604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995258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Query Comment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to Card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comment.Content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comment.CreatedAt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Comment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Cards c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all Reaction of Comment in specific Card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cmr.ReactionId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rct.Icon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COUNT(*)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ReactionCount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STRING_AGG(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', ') WITHIN GROUP (ORDER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ReactedUsers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CommentReaction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Comment cm ON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cmr.CommentId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Reaction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cmr.ReactionId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Users u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cmr.CreatedBy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cmr.ReactionId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rct.Icon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rct.Icon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170839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335685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Query All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Board (store procedure)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 OR ALTER PROCEDURE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sp_GetAllCustomFieldAndFieldValue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Query all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if have dropdown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been add to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dtt.DataTypeValue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cf.DataTypeId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fi.FieldItemValue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FieldItemPriority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c.ColorName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Color,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c.Icon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ColorIcon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fi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fi.CustomFieldId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cf.DataTypeId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dtt.DataTypeValue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='dropdown'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Color c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fi.ColorId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sp_GetAllCustomFieldAndFieldValue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4;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Query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value of all Cards in Board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DECLARE @cols NVARCHAR(MAX)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DECLARE @query NVARCHAR(MAX)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Lấy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danh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sách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cột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pivot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Position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@cols = STUFF((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',' + QUOTENAME(Title)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SELECT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cf.Position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cf.Position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) AS x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x.Position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FOR XML PATH(''), TYPE).value('.', 'NVARCHAR(MAX)'), 1, 1, '')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 @query = 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' + @cols + 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CASE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WHEN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cf.DataTypeId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2 THEN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fi.FieldItemValue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ELSE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fv.FieldValue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            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END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FieldDisplayValue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Cards c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INNER JOIN Stage s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c.StageId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INNER JOIN Board b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fv.CustomFieldId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fi ON TRY_CAST(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fv.FieldValue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INT)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cf.DataTypeId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=2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SourceTable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PIVOT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MAX(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FieldDisplayValue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FOR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 (' + @cols + ')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PivotTable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EXEC(@query)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742318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080376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Query Sticker of all Card in specific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s.StickerName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StickerName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s.StickerUrl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cs.PositionX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StickerPositionXAxis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cs.PositionY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StickerPositionYAxis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cs.IndexZ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StickerPositionZIndex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Sticker 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CardSticker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cs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cs.StickerId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Cards c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Stage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c.StageId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182489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9888843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svg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1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2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5.xml"/><Relationship Id="rId1" Type="http://schemas.openxmlformats.org/officeDocument/2006/relationships/vmlDrawing" Target="../drawings/vmlDrawing1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3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vmlDrawing" Target="../drawings/vmlDrawing1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4.bin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7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8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5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vmlDrawing" Target="../drawings/vmlDrawing1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6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0.svg"/><Relationship Id="rId2" Type="http://schemas.openxmlformats.org/officeDocument/2006/relationships/tags" Target="../tags/tag19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9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7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8.bin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1.xml"/><Relationship Id="rId1" Type="http://schemas.openxmlformats.org/officeDocument/2006/relationships/vmlDrawing" Target="../drawings/vmlDrawing2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9.bin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vmlDrawing" Target="../drawings/vmlDrawing2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0.bin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vmlDrawing" Target="../drawings/vmlDrawing2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1.bin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vmlDrawing" Target="../drawings/vmlDrawing2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2.bin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5.xml"/><Relationship Id="rId1" Type="http://schemas.openxmlformats.org/officeDocument/2006/relationships/vmlDrawing" Target="../drawings/vmlDrawing24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3.bin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6.xml"/><Relationship Id="rId1" Type="http://schemas.openxmlformats.org/officeDocument/2006/relationships/vmlDrawing" Target="../drawings/vmlDrawing25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4.bin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7.xml"/><Relationship Id="rId1" Type="http://schemas.openxmlformats.org/officeDocument/2006/relationships/vmlDrawing" Target="../drawings/vmlDrawing2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5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8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92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6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40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64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8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12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36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0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84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08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32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6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0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04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28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52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76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0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24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8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72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96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20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44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vmlDrawing" Target="../drawings/vmlDrawing1.vml"/><Relationship Id="rId30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8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4" name="think-cell Slide" r:id="rId29" imgW="306" imgH="306" progId="TCLayout.ActiveDocument.1">
                  <p:embed/>
                </p:oleObj>
              </mc:Choice>
              <mc:Fallback>
                <p:oleObj name="think-cell Slide" r:id="rId29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2.jpg"/><Relationship Id="rId12" Type="http://schemas.openxmlformats.org/officeDocument/2006/relationships/image" Target="../media/image17.png"/><Relationship Id="rId2" Type="http://schemas.openxmlformats.org/officeDocument/2006/relationships/tags" Target="../tags/tag28.xml"/><Relationship Id="rId1" Type="http://schemas.openxmlformats.org/officeDocument/2006/relationships/vmlDrawing" Target="../drawings/vmlDrawing27.vml"/><Relationship Id="rId6" Type="http://schemas.openxmlformats.org/officeDocument/2006/relationships/image" Target="../media/image1.emf"/><Relationship Id="rId11" Type="http://schemas.openxmlformats.org/officeDocument/2006/relationships/image" Target="../media/image16.svg"/><Relationship Id="rId5" Type="http://schemas.openxmlformats.org/officeDocument/2006/relationships/oleObject" Target="../embeddings/oleObject26.bin"/><Relationship Id="rId10" Type="http://schemas.openxmlformats.org/officeDocument/2006/relationships/image" Target="../media/image15.png"/><Relationship Id="rId4" Type="http://schemas.openxmlformats.org/officeDocument/2006/relationships/notesSlide" Target="../notesSlides/notesSlide2.xml"/><Relationship Id="rId9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20.jpg"/><Relationship Id="rId2" Type="http://schemas.openxmlformats.org/officeDocument/2006/relationships/tags" Target="../tags/tag29.xml"/><Relationship Id="rId1" Type="http://schemas.openxmlformats.org/officeDocument/2006/relationships/vmlDrawing" Target="../drawings/vmlDrawing28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7.bin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21.png"/><Relationship Id="rId2" Type="http://schemas.openxmlformats.org/officeDocument/2006/relationships/tags" Target="../tags/tag30.xml"/><Relationship Id="rId1" Type="http://schemas.openxmlformats.org/officeDocument/2006/relationships/vmlDrawing" Target="../drawings/vmlDrawing29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8.bin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23.jpg"/><Relationship Id="rId2" Type="http://schemas.openxmlformats.org/officeDocument/2006/relationships/tags" Target="../tags/tag31.xml"/><Relationship Id="rId1" Type="http://schemas.openxmlformats.org/officeDocument/2006/relationships/vmlDrawing" Target="../drawings/vmlDrawing30.vml"/><Relationship Id="rId6" Type="http://schemas.openxmlformats.org/officeDocument/2006/relationships/image" Target="../media/image22.emf"/><Relationship Id="rId5" Type="http://schemas.openxmlformats.org/officeDocument/2006/relationships/oleObject" Target="../embeddings/oleObject29.bin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7" Type="http://schemas.openxmlformats.org/officeDocument/2006/relationships/image" Target="../media/image58.jpg"/><Relationship Id="rId2" Type="http://schemas.openxmlformats.org/officeDocument/2006/relationships/tags" Target="../tags/tag32.xml"/><Relationship Id="rId1" Type="http://schemas.openxmlformats.org/officeDocument/2006/relationships/vmlDrawing" Target="../drawings/vmlDrawing31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0.bin"/><Relationship Id="rId4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68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92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16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4199" y="1076849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40"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999" y="1367628"/>
            <a:ext cx="5797365" cy="426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BOARDS TAB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091D56-98A5-4302-B751-5870A6472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0"/>
            <a:ext cx="10437106" cy="521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BOARDS TAB RELATIONSHIP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A55544-BDAD-4246-8C0C-02472A7A3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389" y="894996"/>
            <a:ext cx="7135221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305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INFOR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4046D7-BC65-4DF9-92C1-8A005755B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399399" cy="5178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USER INFOR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F6F414-D705-49CB-A3BD-AB83352BE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1"/>
            <a:ext cx="9720000" cy="5450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16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 TAB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295845-5141-445A-9620-9D75F694E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523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563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 TAB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588AEC-FD56-4FD9-A328-23175A475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823975"/>
            <a:ext cx="10432658" cy="321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377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DETAIL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49550A-099E-4B27-8132-B67914E09E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5225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465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DASHBOARD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5CDADB-9FFB-4D65-9BDF-0D33ED87D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553583" cy="4275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 TAB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CA3A99-ADFC-4E59-AD10-5DBCC862F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399399" cy="554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943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 TAB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9D8E82-4DC9-4501-A7FC-B7F8B85FF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8015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TAB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0DDA15-7B17-44B8-9EBC-582E8E748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08834"/>
            <a:ext cx="10500487" cy="5297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45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TAB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4CBD71-AB40-4FE3-93D8-A2A0C2C62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271" y="1098000"/>
            <a:ext cx="7043457" cy="5090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179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DETAIL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163FA8-0C8C-47EA-A750-EAAC58DAB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520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DETAIL RELATIONSHIP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EC6A8B-7A00-4875-B96E-2B6A8A85A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2385867"/>
            <a:ext cx="10278909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9E7EC47-258E-4C07-B46A-9F24B7B14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4002" y="979942"/>
            <a:ext cx="8244473" cy="513536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SHARE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4FFCF48-4FAA-41FC-945E-9CEC0C883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99" y="979942"/>
            <a:ext cx="4344006" cy="50489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C75EE46-9EE1-4D75-BA92-11F19C65EF6B}"/>
              </a:ext>
            </a:extLst>
          </p:cNvPr>
          <p:cNvSpPr/>
          <p:nvPr/>
        </p:nvSpPr>
        <p:spPr>
          <a:xfrm>
            <a:off x="3506772" y="1098000"/>
            <a:ext cx="810705" cy="29716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b="1" dirty="0" err="1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EDA4071-1E3A-44FE-A243-0A1FD475BA45}"/>
              </a:ext>
            </a:extLst>
          </p:cNvPr>
          <p:cNvCxnSpPr>
            <a:stCxn id="11" idx="3"/>
          </p:cNvCxnSpPr>
          <p:nvPr/>
        </p:nvCxnSpPr>
        <p:spPr>
          <a:xfrm>
            <a:off x="4317477" y="1246584"/>
            <a:ext cx="688156" cy="238253"/>
          </a:xfrm>
          <a:prstGeom prst="straightConnector1">
            <a:avLst/>
          </a:prstGeom>
          <a:ln w="28575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3402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SHARE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44BBFD-6297-4563-915E-D4B82B47C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492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580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SETTING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8CA5D4-356E-4FA2-9880-5D663DD7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9390731" cy="530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591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SETTING RELATIONSHIP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E76C74-21CF-474C-A47F-1B5367305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3570" y="1098000"/>
            <a:ext cx="7184859" cy="519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854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DETAIL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3C2D18B-B135-45EE-80A8-F7D79B82A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1"/>
            <a:ext cx="10503094" cy="5255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232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DETAIL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EB7933-AE48-4D75-9B37-BAABC464B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10446533" cy="5426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445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LABEL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5E3B05-7262-40E7-822D-96ADD01803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10550228" cy="494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721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0AA59C-FFC0-478A-87DC-3A859EAD0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541171"/>
            <a:ext cx="10367273" cy="3775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582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ATTACHMENT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F8FAEF-DEC9-4308-9A74-7F1DC458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0"/>
            <a:ext cx="10531374" cy="472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58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ATTACHMENT RELATIONSHIP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181B3A-FF26-46A2-830B-2B3D0758D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462" y="1098000"/>
            <a:ext cx="9089073" cy="5336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131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CHECKLIST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56B07E-9BBC-49B1-951F-CCC32AFE8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9720000" cy="54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519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CHECKLIST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DA758F-6C6A-4592-95DD-DB199314B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036" y="1098000"/>
            <a:ext cx="9107927" cy="514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52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COMMENT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D33B23-7B25-4411-B00C-5132996AA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9720000" cy="54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030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COMMENT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610030-06A6-4A35-BC8E-6AB2691C53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593018"/>
            <a:ext cx="10524736" cy="3671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405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FIELD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B66769-D66A-4529-B652-D8418B338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9720000" cy="5328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525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FIELD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775119-5059-458A-9C5C-B627E1F43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135448" cy="535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273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STICKER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0CD240-A8C2-4381-81C6-91B1DB7FA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3950" y="1098000"/>
            <a:ext cx="8184100" cy="513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84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STICKER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76D1DF-C71A-46CD-8245-51C2732AB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508177"/>
            <a:ext cx="10340014" cy="384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930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64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2222</TotalTime>
  <Words>4222</Words>
  <Application>Microsoft Office PowerPoint</Application>
  <PresentationFormat>Widescreen</PresentationFormat>
  <Paragraphs>733</Paragraphs>
  <Slides>40</Slides>
  <Notes>40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BOARDS TAB</vt:lpstr>
      <vt:lpstr>BOARDS TAB RELATIONSHIP</vt:lpstr>
      <vt:lpstr>USER INFOR</vt:lpstr>
      <vt:lpstr>EDIT USER INFOR</vt:lpstr>
      <vt:lpstr>TEMPLATES TAB</vt:lpstr>
      <vt:lpstr>TEMPLATES TAB RELATIONSHIP</vt:lpstr>
      <vt:lpstr>TEMPLATE DETAIL</vt:lpstr>
      <vt:lpstr>WORKSPACE DASHBOARD</vt:lpstr>
      <vt:lpstr>WORKSPACE MEMBER TAB</vt:lpstr>
      <vt:lpstr>WORKSPACE MEMBER TAB RELATIONSHIP</vt:lpstr>
      <vt:lpstr>WORKSPACE SETTING TAB</vt:lpstr>
      <vt:lpstr>WORKSPACE SETTING TAB RELATIONSHIP</vt:lpstr>
      <vt:lpstr>BOARD DETAIL</vt:lpstr>
      <vt:lpstr>BOARD DETAIL RELATIONSHIP</vt:lpstr>
      <vt:lpstr>BOARD SHARE</vt:lpstr>
      <vt:lpstr>BOARD SHARE RELATIONSHIP</vt:lpstr>
      <vt:lpstr>BOARD SETTING</vt:lpstr>
      <vt:lpstr>BOARD SETTING RELATIONSHIP</vt:lpstr>
      <vt:lpstr>CARD DETAIL</vt:lpstr>
      <vt:lpstr>CARD DETAIL RELATIONSHIP</vt:lpstr>
      <vt:lpstr>CARD LABEL</vt:lpstr>
      <vt:lpstr>LABEL RELATIONSHIP</vt:lpstr>
      <vt:lpstr>CARD ATTACHMENT</vt:lpstr>
      <vt:lpstr>CARD ATTACHMENT RELATIONSHIP</vt:lpstr>
      <vt:lpstr>CARD CHECKLIST</vt:lpstr>
      <vt:lpstr>CARD CHECKLIST RELATIONSHIP</vt:lpstr>
      <vt:lpstr>CARD COMMENT</vt:lpstr>
      <vt:lpstr>CARD COMMENT RELATIONSHIP</vt:lpstr>
      <vt:lpstr>CUSTOM FIELD</vt:lpstr>
      <vt:lpstr>CUSTOM FIELD RELATIONSHIP</vt:lpstr>
      <vt:lpstr>CARD STICKER</vt:lpstr>
      <vt:lpstr>CARD STICKER RELATIONSHIP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126</cp:revision>
  <dcterms:created xsi:type="dcterms:W3CDTF">2025-07-10T03:51:23Z</dcterms:created>
  <dcterms:modified xsi:type="dcterms:W3CDTF">2025-08-11T06:18:47Z</dcterms:modified>
</cp:coreProperties>
</file>