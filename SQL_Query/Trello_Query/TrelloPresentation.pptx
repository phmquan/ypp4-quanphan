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32.xml" ContentType="application/vnd.openxmlformats-officedocument.presentationml.tags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45"/>
  </p:notesMasterIdLst>
  <p:handoutMasterIdLst>
    <p:handoutMasterId r:id="rId46"/>
  </p:handoutMasterIdLst>
  <p:sldIdLst>
    <p:sldId id="321" r:id="rId4"/>
    <p:sldId id="330" r:id="rId5"/>
    <p:sldId id="290" r:id="rId6"/>
    <p:sldId id="331" r:id="rId7"/>
    <p:sldId id="294" r:id="rId8"/>
    <p:sldId id="281" r:id="rId9"/>
    <p:sldId id="2145705925" r:id="rId10"/>
    <p:sldId id="2145705951" r:id="rId11"/>
    <p:sldId id="2145705952" r:id="rId12"/>
    <p:sldId id="2145705972" r:id="rId13"/>
    <p:sldId id="2145705953" r:id="rId14"/>
    <p:sldId id="2145705968" r:id="rId15"/>
    <p:sldId id="2145705969" r:id="rId16"/>
    <p:sldId id="2145705973" r:id="rId17"/>
    <p:sldId id="2145705970" r:id="rId18"/>
    <p:sldId id="2145705954" r:id="rId19"/>
    <p:sldId id="2145705965" r:id="rId20"/>
    <p:sldId id="2145705974" r:id="rId21"/>
    <p:sldId id="2145705966" r:id="rId22"/>
    <p:sldId id="2145705975" r:id="rId23"/>
    <p:sldId id="2145705955" r:id="rId24"/>
    <p:sldId id="2145705976" r:id="rId25"/>
    <p:sldId id="2145705964" r:id="rId26"/>
    <p:sldId id="2145705977" r:id="rId27"/>
    <p:sldId id="2145705967" r:id="rId28"/>
    <p:sldId id="2145705978" r:id="rId29"/>
    <p:sldId id="2145705979" r:id="rId30"/>
    <p:sldId id="2145705980" r:id="rId31"/>
    <p:sldId id="2145705957" r:id="rId32"/>
    <p:sldId id="2145705981" r:id="rId33"/>
    <p:sldId id="2145705958" r:id="rId34"/>
    <p:sldId id="2145705982" r:id="rId35"/>
    <p:sldId id="2145705959" r:id="rId36"/>
    <p:sldId id="2145705983" r:id="rId37"/>
    <p:sldId id="2145705960" r:id="rId38"/>
    <p:sldId id="2145705984" r:id="rId39"/>
    <p:sldId id="2145705963" r:id="rId40"/>
    <p:sldId id="2145705985" r:id="rId41"/>
    <p:sldId id="2145705971" r:id="rId42"/>
    <p:sldId id="2145705986" r:id="rId43"/>
    <p:sldId id="315" r:id="rId44"/>
  </p:sldIdLst>
  <p:sldSz cx="12192000" cy="6858000"/>
  <p:notesSz cx="6858000" cy="9144000"/>
  <p:custDataLst>
    <p:tags r:id="rId4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321"/>
            <p14:sldId id="330"/>
            <p14:sldId id="290"/>
            <p14:sldId id="331"/>
            <p14:sldId id="294"/>
            <p14:sldId id="281"/>
            <p14:sldId id="2145705925"/>
            <p14:sldId id="2145705951"/>
            <p14:sldId id="2145705952"/>
            <p14:sldId id="2145705972"/>
            <p14:sldId id="2145705953"/>
            <p14:sldId id="2145705968"/>
            <p14:sldId id="2145705969"/>
            <p14:sldId id="2145705973"/>
            <p14:sldId id="2145705970"/>
            <p14:sldId id="2145705954"/>
            <p14:sldId id="2145705965"/>
            <p14:sldId id="2145705974"/>
            <p14:sldId id="2145705966"/>
            <p14:sldId id="2145705975"/>
            <p14:sldId id="2145705955"/>
            <p14:sldId id="2145705976"/>
            <p14:sldId id="2145705964"/>
            <p14:sldId id="2145705977"/>
            <p14:sldId id="2145705967"/>
            <p14:sldId id="2145705978"/>
            <p14:sldId id="2145705979"/>
            <p14:sldId id="2145705980"/>
            <p14:sldId id="2145705957"/>
            <p14:sldId id="2145705981"/>
            <p14:sldId id="2145705958"/>
            <p14:sldId id="2145705982"/>
            <p14:sldId id="2145705959"/>
            <p14:sldId id="2145705983"/>
            <p14:sldId id="2145705960"/>
            <p14:sldId id="2145705984"/>
            <p14:sldId id="2145705963"/>
            <p14:sldId id="2145705985"/>
            <p14:sldId id="2145705971"/>
            <p14:sldId id="2145705986"/>
            <p14:sldId id="315"/>
          </p14:sldIdLst>
        </p14:section>
        <p14:section name="How-to guides" id="{940A1398-85E1-49ED-8D6E-5B86E8378269}">
          <p14:sldIdLst/>
        </p14:section>
        <p14:section name="Style guide" id="{469652BB-A032-4484-908B-5AD5FE899E0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0291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750" y="114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10.08.2025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9049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3777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1636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2698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0734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115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7089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1261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6549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19354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8250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1910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7986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7930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6919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7136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7477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25665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1694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79773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5653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41053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82427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08028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7295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82352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8692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20460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995258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7083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35685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42318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80376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82489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88884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2244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6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6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vmlDrawing" Target="../drawings/vmlDrawing1.v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think-cell Slide" r:id="rId29" imgW="306" imgH="306" progId="TCLayout.ActiveDocument.1">
                  <p:embed/>
                </p:oleObj>
              </mc:Choice>
              <mc:Fallback>
                <p:oleObj name="think-cell Slide" r:id="rId29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3.jpg"/><Relationship Id="rId12" Type="http://schemas.openxmlformats.org/officeDocument/2006/relationships/image" Target="../media/image18.png"/><Relationship Id="rId2" Type="http://schemas.openxmlformats.org/officeDocument/2006/relationships/tags" Target="../tags/tag2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emf"/><Relationship Id="rId11" Type="http://schemas.openxmlformats.org/officeDocument/2006/relationships/image" Target="../media/image17.svg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16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0.jpg"/><Relationship Id="rId2" Type="http://schemas.openxmlformats.org/officeDocument/2006/relationships/tags" Target="../tags/tag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7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1.png"/><Relationship Id="rId2" Type="http://schemas.openxmlformats.org/officeDocument/2006/relationships/tags" Target="../tags/tag30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3.jpg"/><Relationship Id="rId2" Type="http://schemas.openxmlformats.org/officeDocument/2006/relationships/tags" Target="../tags/tag3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9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58.jpg"/><Relationship Id="rId2" Type="http://schemas.openxmlformats.org/officeDocument/2006/relationships/tags" Target="../tags/tag3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36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bbv Software Services AG  |  </a:t>
            </a:r>
            <a:r>
              <a:rPr lang="en-CH" dirty="0"/>
              <a:t>Date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Y</a:t>
            </a:r>
            <a:r>
              <a:rPr lang="en-US" dirty="0"/>
              <a:t>PP</a:t>
            </a:r>
            <a:r>
              <a:rPr lang="vi-VN" dirty="0"/>
              <a:t> 4</a:t>
            </a:r>
            <a:r>
              <a:rPr lang="en-US" dirty="0" err="1"/>
              <a:t>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2218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7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bbv Software Services AG  |  </a:t>
            </a:r>
            <a:r>
              <a:rPr lang="en-CH" noProof="0" dirty="0"/>
              <a:t>Date</a:t>
            </a:r>
            <a:r>
              <a:rPr lang="en-US" noProof="0" dirty="0"/>
              <a:t>: 08/05/2025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CH" noProof="0" dirty="0"/>
              <a:t>Presentation on Trello Functionalities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6096000" y="1098000"/>
            <a:ext cx="6096000" cy="576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  <a:p>
            <a:r>
              <a:rPr lang="vi-VN" dirty="0"/>
              <a:t>Key </a:t>
            </a:r>
            <a:r>
              <a:rPr lang="en-US" dirty="0"/>
              <a:t>Functionalities</a:t>
            </a:r>
            <a:endParaRPr lang="vi-VN" dirty="0"/>
          </a:p>
          <a:p>
            <a:r>
              <a:rPr lang="vi-VN" dirty="0"/>
              <a:t>Screens in Trello</a:t>
            </a:r>
            <a:endParaRPr lang="en-US" dirty="0"/>
          </a:p>
          <a:p>
            <a:r>
              <a:rPr lang="en-US" dirty="0"/>
              <a:t>Q&amp;A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77428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is Trello?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vi-VN" dirty="0"/>
              <a:t>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692DB2C1-905C-17B8-72EB-04AFFCFBA36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692DB2C1-905C-17B8-72EB-04AFFCFBA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35A2419-6612-6932-3D9B-20E68634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INTRODUCTION</a:t>
            </a:r>
            <a:endParaRPr lang="en-GB" dirty="0"/>
          </a:p>
        </p:txBody>
      </p:sp>
      <p:sp>
        <p:nvSpPr>
          <p:cNvPr id="23" name="Inhaltsplatzhalter 1">
            <a:extLst>
              <a:ext uri="{FF2B5EF4-FFF2-40B4-BE49-F238E27FC236}">
                <a16:creationId xmlns:a16="http://schemas.microsoft.com/office/drawing/2014/main" id="{14A6571E-0587-1E10-CAAE-907648CA4E6D}"/>
              </a:ext>
            </a:extLst>
          </p:cNvPr>
          <p:cNvSpPr txBox="1">
            <a:spLocks/>
          </p:cNvSpPr>
          <p:nvPr/>
        </p:nvSpPr>
        <p:spPr>
          <a:xfrm>
            <a:off x="431998" y="1527719"/>
            <a:ext cx="5232201" cy="2664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Tx/>
              <a:buNone/>
              <a:defRPr sz="18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359991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719982" indent="0" algn="just" rtl="0" eaLnBrk="1" fontAlgn="base" hangingPunct="1">
              <a:spcBef>
                <a:spcPts val="333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4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0" indent="-359991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719982" indent="-359991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6pPr>
            <a:lvl7pPr marL="1079973" indent="-359991" algn="l" rtl="0" eaLnBrk="1" fontAlgn="base" hangingPunct="1">
              <a:spcBef>
                <a:spcPts val="333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4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7pPr>
            <a:lvl8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rgbClr val="C00000"/>
              </a:buClr>
              <a:buFont typeface="+mj-lt"/>
              <a:buNone/>
              <a:tabLst>
                <a:tab pos="958827" algn="l"/>
              </a:tabLst>
              <a:defRPr sz="1800" baseline="0">
                <a:solidFill>
                  <a:schemeClr val="bg2"/>
                </a:solidFill>
                <a:latin typeface="+mj-lt"/>
                <a:ea typeface="+mn-ea"/>
              </a:defRPr>
            </a:lvl8pPr>
            <a:lvl9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defRPr sz="1800">
                <a:solidFill>
                  <a:schemeClr val="bg2"/>
                </a:solidFill>
                <a:latin typeface="+mj-lt"/>
                <a:ea typeface="+mn-ea"/>
                <a:cs typeface="Arial" pitchFamily="34" charset="0"/>
              </a:defRPr>
            </a:lvl9pPr>
          </a:lstStyle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Trello is a visual project management tool 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Workspace → Board → </a:t>
            </a:r>
            <a:r>
              <a:rPr lang="vi-VN" kern="0" dirty="0">
                <a:solidFill>
                  <a:schemeClr val="tx1"/>
                </a:solidFill>
                <a:latin typeface="+mn-lt"/>
              </a:rPr>
              <a:t>Stage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→ Card to organize tasks 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Collaborate with teams.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Intuitive drag-and-drop interface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Ideal for task management, kanban boards, and collaboration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Works for teams of any size</a:t>
            </a:r>
            <a:endParaRPr lang="en-GB" kern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0B9D4-9D96-7B2F-32F9-7C6DCF60C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199" y="1076849"/>
            <a:ext cx="6096000" cy="472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02973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Key Functionalities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26A09-3641-218F-541F-9F1988FFAD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1544801"/>
            <a:ext cx="5232200" cy="42677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Workspaces and Boards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Stages within Boards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Cards (task items) inside Stages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Add custom fields to Cards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Assign Members to Cards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Add Labels, Due Dates, Checklists, and Attachments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Comment and track Activity on Cards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Manage Permissions and Sharing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Use Templates for quick project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A6541B-91AB-DFDC-80FD-456C4EF3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Functionalities of Trello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2C80F-52B9-B47F-62BE-ACC59AA3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999" y="1367628"/>
            <a:ext cx="5797365" cy="42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0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BOARDS TAB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091D56-98A5-4302-B751-5870A647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098000"/>
            <a:ext cx="10437106" cy="521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3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BOARDS TAB RELATIONSHIP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A55544-BDAD-4246-8C0C-02472A7A3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89" y="894996"/>
            <a:ext cx="7135221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0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INFOR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4046D7-BC65-4DF9-92C1-8A005755B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399399" cy="517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9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USER INFOR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6F414-D705-49CB-A3BD-AB83352BE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098001"/>
            <a:ext cx="9720000" cy="545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6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TAB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295845-5141-445A-9620-9D75F694E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493667" cy="52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6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TAB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88AEC-FD56-4FD9-A328-23175A47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823975"/>
            <a:ext cx="10432658" cy="32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7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9550A-099E-4B27-8132-B67914E09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493667" cy="522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CDADB-9FFB-4D65-9BDF-0D33ED87D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553583" cy="427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0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MEMBER TAB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A3A99-ADFC-4E59-AD10-5DBCC862F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399399" cy="55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4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MEMBER TAB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D8E82-4DC9-4501-A7FC-B7F8B85FF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498015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SETTING TAB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0DDA15-7B17-44B8-9EBC-582E8E748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08834"/>
            <a:ext cx="10500487" cy="529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5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SETTING TAB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CBD71-AB40-4FE3-93D8-A2A0C2C62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271" y="1098000"/>
            <a:ext cx="7043457" cy="509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7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63FA8-0C8C-47EA-A750-EAAC58DAB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493667" cy="520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0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DETAIL RELATIONSHIP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EC6A8B-7A00-4875-B96E-2B6A8A85A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2385867"/>
            <a:ext cx="10278909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E7EC47-258E-4C07-B46A-9F24B7B14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002" y="979942"/>
            <a:ext cx="8244473" cy="51353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SHARE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FCF48-4FAA-41FC-945E-9CEC0C883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99" y="979942"/>
            <a:ext cx="4344006" cy="5048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C75EE46-9EE1-4D75-BA92-11F19C65EF6B}"/>
              </a:ext>
            </a:extLst>
          </p:cNvPr>
          <p:cNvSpPr/>
          <p:nvPr/>
        </p:nvSpPr>
        <p:spPr>
          <a:xfrm>
            <a:off x="3506772" y="1098000"/>
            <a:ext cx="810705" cy="29716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b="1" dirty="0" err="1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DA4071-1E3A-44FE-A243-0A1FD475BA45}"/>
              </a:ext>
            </a:extLst>
          </p:cNvPr>
          <p:cNvCxnSpPr>
            <a:stCxn id="11" idx="3"/>
          </p:cNvCxnSpPr>
          <p:nvPr/>
        </p:nvCxnSpPr>
        <p:spPr>
          <a:xfrm>
            <a:off x="4317477" y="1246584"/>
            <a:ext cx="688156" cy="238253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40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SHARE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4BBFD-6297-4563-915E-D4B82B47C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493667" cy="492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8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SETTING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CA5D4-356E-4FA2-9880-5D663DD7A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9390731" cy="530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9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SETTING RELATIONSHIP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E76C74-21CF-474C-A47F-1B5367305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570" y="1098000"/>
            <a:ext cx="7184859" cy="519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5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DETAIL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C2D18B-B135-45EE-80A8-F7D79B82A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098001"/>
            <a:ext cx="10503094" cy="525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3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DETAIL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B7933-AE48-4D75-9B37-BAABC464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1"/>
            <a:ext cx="10446533" cy="542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4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5E3B05-7262-40E7-822D-96ADD0180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1"/>
            <a:ext cx="10550228" cy="494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2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AA59C-FFC0-478A-87DC-3A859EAD0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541171"/>
            <a:ext cx="10367273" cy="37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8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8FAEF-DEC9-4308-9A74-7F1DC458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098000"/>
            <a:ext cx="10531374" cy="472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5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ATTACHMENT RELATIONSHIP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181B3A-FF26-46A2-830B-2B3D0758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62" y="1098000"/>
            <a:ext cx="9089073" cy="53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3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56B07E-9BBC-49B1-951F-CCC32AFE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1"/>
            <a:ext cx="9720000" cy="54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1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A758F-6C6A-4592-95DD-DB199314B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036" y="1098000"/>
            <a:ext cx="9107927" cy="514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5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COMMENT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D33B23-7B25-4411-B00C-5132996A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1"/>
            <a:ext cx="9720000" cy="54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3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COMMENT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10030-06A6-4A35-BC8E-6AB2691C5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593018"/>
            <a:ext cx="10524736" cy="367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FIELD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66769-D66A-4529-B652-D8418B338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9720000" cy="532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2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FIELD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75119-5059-458A-9C5C-B627E1F43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8000"/>
            <a:ext cx="10135448" cy="535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STICKER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0CD240-A8C2-4381-81C6-91B1DB7FA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950" y="1098000"/>
            <a:ext cx="8184100" cy="51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4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FIELD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76D1DF-C71A-46CD-8245-51C2732AB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508177"/>
            <a:ext cx="10340014" cy="38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3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E052DC5-8AEF-4B7F-34D2-716E4153D1B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E052DC5-8AEF-4B7F-34D2-716E4153D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F29FAE8-E1AD-FA22-A7BD-00CDD1CE948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7"/>
          <a:srcRect t="2760" b="276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FB63B3-A8AC-8683-C803-22C28B4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Q&amp;A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1331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1694</TotalTime>
  <Words>254</Words>
  <Application>Microsoft Office PowerPoint</Application>
  <PresentationFormat>Widescreen</PresentationFormat>
  <Paragraphs>103</Paragraphs>
  <Slides>41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Courier New</vt:lpstr>
      <vt:lpstr>bbv template EN</vt:lpstr>
      <vt:lpstr>think-cell Slide</vt:lpstr>
      <vt:lpstr>PowerPoint Presentation</vt:lpstr>
      <vt:lpstr>YPP 4th</vt:lpstr>
      <vt:lpstr>Presentation on Trello Functionalities</vt:lpstr>
      <vt:lpstr>Agenda</vt:lpstr>
      <vt:lpstr>INTRODUCTION</vt:lpstr>
      <vt:lpstr>INTRODUCTION</vt:lpstr>
      <vt:lpstr>Key Functionalities</vt:lpstr>
      <vt:lpstr>Key Functionalities of Trello</vt:lpstr>
      <vt:lpstr>BOARDS TAB</vt:lpstr>
      <vt:lpstr>BOARDS TAB RELATIONSHIP</vt:lpstr>
      <vt:lpstr>USER INFOR</vt:lpstr>
      <vt:lpstr>EDIT USER INFOR</vt:lpstr>
      <vt:lpstr>TEMPLATES TAB</vt:lpstr>
      <vt:lpstr>TEMPLATES TAB RELATIONSHIP</vt:lpstr>
      <vt:lpstr>TEMPLATE DETAIL</vt:lpstr>
      <vt:lpstr>WORKSPACE DASHBOARD</vt:lpstr>
      <vt:lpstr>WORKSPACE MEMBER TAB</vt:lpstr>
      <vt:lpstr>WORKSPACE MEMBER TAB RELATIONSHIP</vt:lpstr>
      <vt:lpstr>WORKSPACE SETTING TAB</vt:lpstr>
      <vt:lpstr>WORKSPACE SETTING TAB RELATIONSHIP</vt:lpstr>
      <vt:lpstr>BOARD DETAIL</vt:lpstr>
      <vt:lpstr>BOARD DETAIL RELATIONSHIP</vt:lpstr>
      <vt:lpstr>BOARD SHARE</vt:lpstr>
      <vt:lpstr>BOARD SHARE</vt:lpstr>
      <vt:lpstr>BOARD SETTING</vt:lpstr>
      <vt:lpstr>BOARD SETTING RELATIONSHIP</vt:lpstr>
      <vt:lpstr>CARD DETAIL</vt:lpstr>
      <vt:lpstr>CARD DETAIL RELATIONSHIP</vt:lpstr>
      <vt:lpstr>LABEL</vt:lpstr>
      <vt:lpstr>LABEL RELATIONSHIP</vt:lpstr>
      <vt:lpstr>ATTACHMENT</vt:lpstr>
      <vt:lpstr>ATTACHMENT RELATIONSHIP</vt:lpstr>
      <vt:lpstr>CHECKLIST</vt:lpstr>
      <vt:lpstr>CHECKLIST</vt:lpstr>
      <vt:lpstr>CARD COMMENT</vt:lpstr>
      <vt:lpstr>CARD COMMENT RELATIONSHIP</vt:lpstr>
      <vt:lpstr>CUSTOM FIELD</vt:lpstr>
      <vt:lpstr>CUSTOM FIELD RELATIONSHIP</vt:lpstr>
      <vt:lpstr>CARD STICKER</vt:lpstr>
      <vt:lpstr>CUSTOM FIELD RELATIONSHIP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Dao Trong Vo</dc:creator>
  <cp:lastModifiedBy>Quan Phan Hoang Minh</cp:lastModifiedBy>
  <cp:revision>109</cp:revision>
  <dcterms:created xsi:type="dcterms:W3CDTF">2025-07-10T03:51:23Z</dcterms:created>
  <dcterms:modified xsi:type="dcterms:W3CDTF">2025-08-10T03:25:00Z</dcterms:modified>
</cp:coreProperties>
</file>